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890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Introduce the project as a pure backend SQL Server database — no app layer — built collaboratively by three members, each owning a distinct part of the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objectives. Emphasize that this is a pure T-SQL project — every requirement (constraints, joins, procedures, views) maps to a real database skill being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one-to-many chain: Books to Copies, Copies and Members both feed into Loans. Mention the group agreed on naming and type conventions on Day 1 before writing any code, to avoid merge conflicts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dependency logic: Member 1 and 2 work in parallel from Day 1 since neither depends on the other. Member 3's table depends on both, so that work starts last and Member 3 naturally becomes the integration owner who merges everything by Day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 covers the schema foundation. Highlight that no foreign keys point INTO other members' tables, which is exactly why this work could start immediately on Day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CREATE TABLE statement for Book_Copies. Point out the FK constraint and the two CHECK constraints. Mention this was verified later by deliberately trying to break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 is the business-logic layer. Emphasize that procedures could only be FULLY tested once Book_Loans existed — so this work depended partly on Member 3's table being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procedure logic: check member status, check copy availability, raise an error and roll back if either fails, otherwise insert the loan and update the copy — all inside one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 has the heaviest load — not just the Loans table, but the views, subqueries, and the responsibility of merging everyone's SQL into one final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view is a saved, reusable SELECT — querying it re-runs the underlying logic every time. Point out why LEFT JOIN was chosen here over INNER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 to say out loud: IDENTITY columns never reuse consumed values, even after a rolled-back statement — always check MIN/MAX id before writing dependent inserts that hardcode foreign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summary stats, then run through the final checklist quickly. Invite questions — be ready to explain PK/FK/UNIQUE, ACID &amp; transactions, and the difference between a view and a correlated subquery, per the viva-prep split by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1283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·  SSMS  ·  GROUP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Library Consortium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 — Project Presentation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3-member backend database project built entirely in  on SQL Server Management Studio — schema design, constraints, stored procedures, transactions, views, and reporting queries.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846320"/>
            <a:ext cx="10515600" cy="1280160"/>
          </a:xfrm>
          <a:prstGeom prst="roundRect">
            <a:avLst>
              <a:gd name="adj" fmla="val 5714"/>
            </a:avLst>
          </a:prstGeom>
          <a:solidFill>
            <a:srgbClr val="1A2350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188720" y="5074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8720" y="5349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M. Waqar Altaf</a:t>
            </a:r>
            <a:b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</a:b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F20242661130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17720" y="5074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17720" y="5349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Moarij Irfan</a:t>
            </a:r>
            <a:b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F2024266190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046720" y="5074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46720" y="5349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M. Sami Ullah Yousaf</a:t>
            </a:r>
            <a:b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F2024266119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Library Consortium system models a small library's day-to-day operations — cataloguing books, tracking physical copies, registering members, and recording every checkout and return — entirely as a backend SQL Server database.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6974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85201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429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FK, UNIQUE and CHECK constraints enforce valid data at the database level.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2377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26974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134" y="285201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3429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SQL Skills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57600" y="388620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operations, INNER/LEFT JOINs, subqueries, and aggregate functions with GROUP BY/HAVING.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2377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269748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774" y="285201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3429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92240" y="388620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wrapped in transactions safely handle checkouts and returns.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052560" y="2377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6880" y="26974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1414" y="285201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26880" y="3429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326880" y="388620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surface overdue loans and per-book circulation statistics on demand.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Tables, One Connected Schema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97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28401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72491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520440" y="24688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49040" y="2697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686" y="28401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272491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Book_Copies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400800" y="24688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7E9F4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29400" y="269748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046" y="284012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0" y="272491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Book_Loans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400800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3F0F1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629400" y="4434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046" y="4577486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0" y="44622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777240" y="3337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isbn, title, author,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publish_year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3657600" y="3337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copy_id (PK), book_id (FK)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barcode, condition,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availability_status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537960" y="3337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copy_id (FK), member_id (FK)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loan/due/return dates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537960" y="5074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phone,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member_status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46120" y="3177540"/>
            <a:ext cx="274320" cy="0"/>
          </a:xfrm>
          <a:prstGeom prst="line">
            <a:avLst/>
          </a:prstGeom>
          <a:noFill/>
          <a:ln w="25400">
            <a:solidFill>
              <a:srgbClr val="9AA7B3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6126480" y="3177540"/>
            <a:ext cx="274320" cy="0"/>
          </a:xfrm>
          <a:prstGeom prst="line">
            <a:avLst/>
          </a:prstGeom>
          <a:noFill/>
          <a:ln w="25400">
            <a:solidFill>
              <a:srgbClr val="9AA7B3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7703820" y="3886200"/>
            <a:ext cx="0" cy="320040"/>
          </a:xfrm>
          <a:prstGeom prst="line">
            <a:avLst/>
          </a:prstGeom>
          <a:noFill/>
          <a:ln w="25400">
            <a:solidFill>
              <a:srgbClr val="9AA7B3"/>
            </a:solidFill>
            <a:prstDash val="solid"/>
            <a:tailEnd type="triangle"/>
          </a:ln>
        </p:spPr>
      </p:sp>
      <p:sp>
        <p:nvSpPr>
          <p:cNvPr id="28" name="Text 22"/>
          <p:cNvSpPr/>
          <p:nvPr/>
        </p:nvSpPr>
        <p:spPr>
          <a:xfrm>
            <a:off x="640080" y="58978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(1) → Book_Copies (Many) → Book_Loans (Many) ← Members (1)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9281160" y="2468880"/>
            <a:ext cx="2331720" cy="3154680"/>
          </a:xfrm>
          <a:prstGeom prst="roundRect">
            <a:avLst>
              <a:gd name="adj" fmla="val 3137"/>
            </a:avLst>
          </a:prstGeom>
          <a:solidFill>
            <a:srgbClr val="FDF4EC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9509760" y="2606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Day-1 Agreement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509760" y="297180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names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surrogate keys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lengths fixed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 all loan dates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Division Among 3 Members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20824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187245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7647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Books, Book_Copies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617720" y="176479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· CRUD · JOINs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0" y="1764792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FK dependencies on other members — built first, independently.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246120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666744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3833165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37360" y="34107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73736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617720" y="341071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· Transactions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955280" y="3410712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independent of Books/Copies — built in parallel with Member 1.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4892040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68680" y="5312664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5479085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5056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73736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Book_Loans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4617720" y="505663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· Subqueries · Integration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7955280" y="5056632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both other tables — naturally starts last, owns final merge.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Foundation, Constraints, CRUD &amp; JOINs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1086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84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Enforced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FOREIGN KEY (ON DELETE NO ACTION), UNIQUE on isbn, and CHECK constraints on copy_condition and availability_status.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21086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84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Demonstrated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37960" y="2606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SELECT, UPDATE, and DELETE operations on Books and Book_Copies, including 30 rows of realistic seed data in each table.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39460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270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Queries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2960" y="4892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to list every copy with its book title; LEFT JOIN across Copies, Loans and Members to show current borrowers without dropping unloaned copies.</a:t>
            </a:r>
            <a:endParaRPr lang="en-US" sz="1180" dirty="0"/>
          </a:p>
        </p:txBody>
      </p:sp>
      <p:sp>
        <p:nvSpPr>
          <p:cNvPr id="20" name="Shape 15"/>
          <p:cNvSpPr/>
          <p:nvPr/>
        </p:nvSpPr>
        <p:spPr>
          <a:xfrm>
            <a:off x="6263640" y="3977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7960" y="4251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606" y="439460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270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Testing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537960" y="4892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tested a duplicate ISBN insert and a delete on a book with active copies — both correctly rejected by SQL Server.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— IN SSMS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Book_Copies Table: Foreign Key &amp; CHECK Constraints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7132320" cy="4007794"/>
          </a:xfrm>
          <a:prstGeom prst="roundRect">
            <a:avLst>
              <a:gd name="adj" fmla="val 1141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/home/claude/ppt/shot_books_cop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45920"/>
            <a:ext cx="6949440" cy="382491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554480"/>
            <a:ext cx="3794760" cy="4480560"/>
          </a:xfrm>
          <a:prstGeom prst="roundRect">
            <a:avLst>
              <a:gd name="adj" fmla="val 192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 DELETE NO ACTION?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92440" y="224028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Book is deleted while copies still reference it, SQL Server blocks the delete instead of silently removing related rows.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protects circulation history — a librarian cannot accidentally wipe out a book's copy records.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92440" y="4160520"/>
            <a:ext cx="411480" cy="41148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425" y="4267505"/>
            <a:ext cx="197510" cy="1975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41080" y="4206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a deliberate DELETE test — rejected as expected.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 Table, Stored Procedures &amp; Transactions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1086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84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 Table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 restricts member_status to Active, Suspended, or Expired — the exact values the checkout logic depends on.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21086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84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sp_CheckoutBookCopy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37960" y="2606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member is Active and the copy is Available, then inserts a loan and flips the copy to On Loan — all in one transaction.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39460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270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sp_ReturnBookCopy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2960" y="4892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loan exists and isn't already returned, then sets return_date and flips the copy back to Available.</a:t>
            </a:r>
            <a:endParaRPr lang="en-US" sz="1180" dirty="0"/>
          </a:p>
        </p:txBody>
      </p:sp>
      <p:sp>
        <p:nvSpPr>
          <p:cNvPr id="20" name="Shape 15"/>
          <p:cNvSpPr/>
          <p:nvPr/>
        </p:nvSpPr>
        <p:spPr>
          <a:xfrm>
            <a:off x="6263640" y="3977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7960" y="4251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606" y="439460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270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Safety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537960" y="4892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XACT_ABORT ON guarantees a full ROLLBACK on any unexpected error — never a half-completed checkout or return.</a:t>
            </a:r>
            <a:endParaRPr lang="en-US" sz="11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— IN SSMS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sp_CheckoutBookCopy: Transaction-Safe Checkout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7132320" cy="3850236"/>
          </a:xfrm>
          <a:prstGeom prst="roundRect">
            <a:avLst>
              <a:gd name="adj" fmla="val 1187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/home/claude/ppt/shot_p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45920"/>
            <a:ext cx="6949440" cy="36673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554480"/>
            <a:ext cx="3794760" cy="4480560"/>
          </a:xfrm>
          <a:prstGeom prst="roundRect">
            <a:avLst>
              <a:gd name="adj" fmla="val 192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Scenarios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92440" y="2286000"/>
            <a:ext cx="365760" cy="36576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38" y="2381098"/>
            <a:ext cx="175565" cy="1755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95360" y="22677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 + Available copy → loan inserted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92440" y="2971800"/>
            <a:ext cx="365760" cy="365760"/>
          </a:xfrm>
          <a:prstGeom prst="ellipse">
            <a:avLst/>
          </a:prstGeom>
          <a:solidFill>
            <a:srgbClr val="FBE7D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7538" y="3066898"/>
            <a:ext cx="175565" cy="1755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95360" y="29535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 member → checkout denied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92440" y="3657600"/>
            <a:ext cx="365760" cy="365760"/>
          </a:xfrm>
          <a:prstGeom prst="ellipse">
            <a:avLst/>
          </a:prstGeom>
          <a:solidFill>
            <a:srgbClr val="FBE7D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7538" y="3752698"/>
            <a:ext cx="175565" cy="1755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95360" y="36393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already On Loan → checkout denied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Book_Loans, Views, Subqueries &amp; Integration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1086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84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Book_Loans Table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both Book_Copies and Members — built last, with 30 seed loans covering returned, overdue, and active cases.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21086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84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Reporting Views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37960" y="2606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vw_OverdueLoanFulfillment surfaces late returns; vw_CatalogCirculationSummary gives per-book circulation stats.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39460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270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Subqueries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2960" y="4892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subquery finds members who never borrowed; a correlated subquery counts loans per member, row by row.</a:t>
            </a:r>
            <a:endParaRPr lang="en-US" sz="1180" dirty="0"/>
          </a:p>
        </p:txBody>
      </p:sp>
      <p:sp>
        <p:nvSpPr>
          <p:cNvPr id="20" name="Shape 15"/>
          <p:cNvSpPr/>
          <p:nvPr/>
        </p:nvSpPr>
        <p:spPr>
          <a:xfrm>
            <a:off x="6263640" y="3977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7960" y="425196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606" y="439460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270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Integration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537960" y="4892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all three members' scripts into one master script, fixed alias mismatches, and ran the full suite on a fresh database.</a:t>
            </a:r>
            <a:endParaRPr lang="en-US" sz="11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— IN SSMS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vw_CatalogCirculationSummary: Live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7132320" cy="4071805"/>
          </a:xfrm>
          <a:prstGeom prst="roundRect">
            <a:avLst>
              <a:gd name="adj" fmla="val 1123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/home/claude/ppt/shot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45920"/>
            <a:ext cx="6949440" cy="38889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554480"/>
            <a:ext cx="3794760" cy="4480560"/>
          </a:xfrm>
          <a:prstGeom prst="roundRect">
            <a:avLst>
              <a:gd name="adj" fmla="val 1928"/>
            </a:avLst>
          </a:prstGeom>
          <a:solidFill>
            <a:srgbClr val="EAF3F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View Shows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92440" y="224028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book: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total_copies_owned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active_loans (currently out)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lifetime_total_loans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JOINs keep books with zero copies or loans visible — showing 0 instead of disappearing.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Faced During Integration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DF1E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B8590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1086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84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ISBN Truncation Error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ISBNs exceeded the VARCHAR(20) limit on insert. Fixed by using properly-sized, real-format ISBN strings.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DF1E7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B8590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606" y="21086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84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FK Violation on Book_Copies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37960" y="2606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rolled-back insert had already consumed IDENTITY values, so book_id no longer started at 1. Fixed with DBCC CHECKIDENT RESEED.</a:t>
            </a:r>
            <a:endParaRPr lang="en-US" sz="116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3F0F1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39460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270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"31 Loans Instead of 30"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2960" y="4892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bug — a real checkout test correctly inserted one extra, genuine loan row. Kept as proof the procedure works.</a:t>
            </a:r>
            <a:endParaRPr lang="en-US" sz="1160" dirty="0"/>
          </a:p>
        </p:txBody>
      </p:sp>
      <p:sp>
        <p:nvSpPr>
          <p:cNvPr id="20" name="Shape 15"/>
          <p:cNvSpPr/>
          <p:nvPr/>
        </p:nvSpPr>
        <p:spPr>
          <a:xfrm>
            <a:off x="6263640" y="3977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3F0F1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7960" y="4251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439460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2702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Alias Mismatches on Merge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537960" y="4892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member's file used slightly different table aliases. The integration owner standardized them in the final master script.</a:t>
            </a:r>
            <a:endParaRPr lang="en-US" sz="11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114800" cy="41148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Tested, Fully Integrated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A235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2542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FC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— All Passed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A2350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737360"/>
            <a:ext cx="2542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FC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29000" y="24688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Fully Normalized to 3NF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6002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A2350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737360"/>
            <a:ext cx="2542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FC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72200" y="24688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+ 2 Views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0" y="16002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A2350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1737360"/>
            <a:ext cx="2542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FC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915400" y="24688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Rows Across All Tables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Library Consortium database was designed, built, and tested entirely in T-SQL — demonstrating constraints, CRUD, joins, transactional stored procedures, views, subqueries, and aggregate reporting, all merged into one verified master script.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18" y="4328038"/>
            <a:ext cx="140452" cy="14045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60120" y="42153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full schema with constraints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7091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18" y="4785238"/>
            <a:ext cx="140452" cy="14045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60120" y="46725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write-up (1NF/2NF/3NF)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48640" y="51663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18" y="5242438"/>
            <a:ext cx="140452" cy="14045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60120" y="51297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INNER/LEFT JOIN queries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48640" y="56235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18" y="5699638"/>
            <a:ext cx="140452" cy="14045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60120" y="55869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subqueries incl. 1 correlated subquery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035040" y="42519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118" y="4328038"/>
            <a:ext cx="140452" cy="1404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446520" y="42153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(GROUP BY/HAVING)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035040" y="47091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118" y="4785238"/>
            <a:ext cx="140452" cy="14045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446520" y="46725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transactional stored procedures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035040" y="51663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118" y="5242438"/>
            <a:ext cx="140452" cy="14045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46520" y="51297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reporting views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6035040" y="56235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118" y="5699638"/>
            <a:ext cx="140452" cy="14045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446520" y="55869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results — all cases marked Pass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B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1596</Words>
  <Application>Microsoft Office PowerPoint</Application>
  <PresentationFormat>Widescreen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Library Consortium — Database Project</dc:title>
  <dc:subject>PptxGenJS Presentation</dc:subject>
  <dc:creator>Public Library Consortium Group</dc:creator>
  <cp:lastModifiedBy>Sami Ullah Yousaf</cp:lastModifiedBy>
  <cp:revision>3</cp:revision>
  <dcterms:created xsi:type="dcterms:W3CDTF">2026-06-28T07:23:32Z</dcterms:created>
  <dcterms:modified xsi:type="dcterms:W3CDTF">2026-06-28T07:37:31Z</dcterms:modified>
</cp:coreProperties>
</file>